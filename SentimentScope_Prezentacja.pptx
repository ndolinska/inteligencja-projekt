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Liczba próbek</c:v>
                </c:pt>
              </c:strCache>
            </c:strRef>
          </c:tx>
          <c:dPt>
            <c:idx val="0"/>
            <c:spPr>
              <a:solidFill>
                <a:srgbClr val="EF4444"/>
              </a:solidFill>
            </c:spPr>
          </c:dPt>
          <c:dPt>
            <c:idx val="1"/>
            <c:spPr>
              <a:solidFill>
                <a:srgbClr val="7A90B8"/>
              </a:solidFill>
            </c:spPr>
          </c:dPt>
          <c:dPt>
            <c:idx val="2"/>
            <c:spPr>
              <a:solidFill>
                <a:srgbClr val="22C55E"/>
              </a:solidFill>
            </c:spPr>
          </c:dPt>
          <c:cat>
            <c:strRef>
              <c:f>Sheet1!$A$2:$A$4</c:f>
              <c:strCache>
                <c:ptCount val="3"/>
                <c:pt idx="0">
                  <c:v>Negatywny</c:v>
                </c:pt>
                <c:pt idx="1">
                  <c:v>Neutralny</c:v>
                </c:pt>
                <c:pt idx="2">
                  <c:v>Pozytywny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7840</c:v>
                </c:pt>
                <c:pt idx="1">
                  <c:v>20632</c:v>
                </c:pt>
                <c:pt idx="2">
                  <c:v>17143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7A90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3D527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7A90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dPt>
            <c:idx val="0"/>
            <c:spPr>
              <a:solidFill>
                <a:srgbClr val="7A90B8"/>
              </a:solidFill>
            </c:spPr>
          </c:dPt>
          <c:dPt>
            <c:idx val="1"/>
            <c:spPr>
              <a:solidFill>
                <a:srgbClr val="7A90B8"/>
              </a:solidFill>
            </c:spPr>
          </c:dPt>
          <c:dPt>
            <c:idx val="2"/>
            <c:spPr>
              <a:solidFill>
                <a:srgbClr val="7A90B8"/>
              </a:solidFill>
            </c:spPr>
          </c:dPt>
          <c:dPt>
            <c:idx val="3"/>
            <c:spPr>
              <a:solidFill>
                <a:srgbClr val="7A90B8"/>
              </a:solidFill>
            </c:spPr>
          </c:dPt>
          <c:cat>
            <c:strRef>
              <c:f>Sheet1!$A$2:$A$5</c:f>
              <c:strCache>
                <c:ptCount val="4"/>
                <c:pt idx="0">
                  <c:v>VADER</c:v>
                </c:pt>
                <c:pt idx="1">
                  <c:v>TF-IDF + NB</c:v>
                </c:pt>
                <c:pt idx="2">
                  <c:v>TF-IDF + LR</c:v>
                </c:pt>
                <c:pt idx="3">
                  <c:v>XLM-RoBERTa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0.57</c:v>
                </c:pt>
                <c:pt idx="1">
                  <c:v>0.594</c:v>
                </c:pt>
                <c:pt idx="2">
                  <c:v>0.598</c:v>
                </c:pt>
                <c:pt idx="3">
                  <c:v>0.694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macro</c:v>
                </c:pt>
              </c:strCache>
            </c:strRef>
          </c:tx>
          <c:dPt>
            <c:idx val="0"/>
            <c:spPr>
              <a:solidFill>
                <a:srgbClr val="6366F1"/>
              </a:solidFill>
            </c:spPr>
          </c:dPt>
          <c:dPt>
            <c:idx val="1"/>
            <c:spPr>
              <a:solidFill>
                <a:srgbClr val="6366F1"/>
              </a:solidFill>
            </c:spPr>
          </c:dPt>
          <c:dPt>
            <c:idx val="2"/>
            <c:spPr>
              <a:solidFill>
                <a:srgbClr val="6366F1"/>
              </a:solidFill>
            </c:spPr>
          </c:dPt>
          <c:dPt>
            <c:idx val="3"/>
            <c:spPr>
              <a:solidFill>
                <a:srgbClr val="6366F1"/>
              </a:solidFill>
            </c:spPr>
          </c:dPt>
          <c:cat>
            <c:strRef>
              <c:f>Sheet1!$A$2:$A$5</c:f>
              <c:strCache>
                <c:ptCount val="4"/>
                <c:pt idx="0">
                  <c:v>VADER</c:v>
                </c:pt>
                <c:pt idx="1">
                  <c:v>TF-IDF + NB</c:v>
                </c:pt>
                <c:pt idx="2">
                  <c:v>TF-IDF + LR</c:v>
                </c:pt>
                <c:pt idx="3">
                  <c:v>XLM-RoBERTa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0.567</c:v>
                </c:pt>
                <c:pt idx="1">
                  <c:v>0.567</c:v>
                </c:pt>
                <c:pt idx="2">
                  <c:v>0.577</c:v>
                </c:pt>
                <c:pt idx="3">
                  <c:v>0.699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7A90B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0.4"/>
        </c:scaling>
        <c:delete val="0"/>
        <c:axPos val="l"/>
        <c:majorGridlines>
          <c:spPr>
            <a:ln>
              <a:solidFill>
                <a:srgbClr val="3D5275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7A90B8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>
              <a:solidFill>
                <a:srgbClr val="7A90B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-457200"/>
            <a:ext cx="4114800" cy="4114800"/>
          </a:xfrm>
          <a:prstGeom prst="ellipse">
            <a:avLst/>
          </a:prstGeom>
          <a:solidFill>
            <a:srgbClr val="6366F1">
              <a:alpha val="12000"/>
            </a:srgbClr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6366F1"/>
                </a:solidFill>
              </a:rPr>
              <a:t>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286000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4FF"/>
                </a:solidFill>
              </a:rPr>
              <a:t>SentimentScope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4FF"/>
                </a:solidFill>
              </a:rPr>
              <a:t>Analiza tekstu z mediów społecznościowych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18CF8"/>
                </a:solidFill>
              </a:rPr>
              <a:t>Badanie dynamiki emocji i sentymentu widzów pod filmami na platformie YouTube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18688"/>
            <a:ext cx="5943600" cy="13716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F4FF"/>
                </a:solidFill>
              </a:rPr>
              <a:t>Nadia Dolińska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90B8"/>
                </a:solidFill>
              </a:rPr>
              <a:t>Informatyka Praktyczna, Studia I Stopnia  ·  Uniwersytet Gdański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05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7A90B8"/>
                </a:solidFill>
              </a:rPr>
              <a:t>prof. Grzegorz Madejski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617720"/>
            <a:ext cx="547725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54772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F4FF"/>
                </a:solidFill>
              </a:rPr>
              <a:t>NLP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4965" y="4617720"/>
            <a:ext cx="1686153" cy="2286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4965" y="4617720"/>
            <a:ext cx="168615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F4FF"/>
                </a:solidFill>
              </a:rPr>
              <a:t>Sentiment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48279" y="4617720"/>
            <a:ext cx="1534363" cy="2286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8279" y="4617720"/>
            <a:ext cx="153436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F4FF"/>
                </a:solidFill>
              </a:rPr>
              <a:t>Machine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19802" y="4617720"/>
            <a:ext cx="1230782" cy="228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9802" y="4617720"/>
            <a:ext cx="123078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F4FF"/>
                </a:solidFill>
              </a:rPr>
              <a:t>Transformers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Cel i motywacja projektu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3931920" cy="361188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</a:rPr>
              <a:t>Problem badawczy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81328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YouTube generuje miliony komentarzy dziennie — ręczna analiza jest niemożliwa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03120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Komentarze są wielojęzyczne, pełne slangu, emotikonów i ironii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24912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60904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Różne modele NLP mają bardzo różne możliwości i koszty obliczeniowe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46703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82696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Brak narzędzia łączącego sentyment i analizę emocji w jednym miejscu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914400"/>
            <a:ext cx="4389120" cy="361188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02412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</a:rPr>
              <a:t>Cele projektu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1481328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41732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F"/>
                </a:solidFill>
              </a:rPr>
              <a:t>Porównanie 4 modeli NLP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673352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na tym samym datasecie i YouTube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167127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210312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F"/>
                </a:solidFill>
              </a:rPr>
              <a:t>Wielojęzyczna analiza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2359152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polskie i angielskie komentarze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852927"/>
            <a:ext cx="9144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788920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F"/>
                </a:solidFill>
              </a:rPr>
              <a:t>Interaktywny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044952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FastAPI + React, wyniki na żywo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Architektura systemu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481328" cy="123444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481328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F4444"/>
                </a:solidFill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0F4FF"/>
                </a:solidFill>
              </a:rPr>
              <a:t>YouTube
Data API v3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1609344"/>
            <a:ext cx="137160" cy="27432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47675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5275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56816" y="1005840"/>
            <a:ext cx="1481328" cy="123444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56816" y="1005840"/>
            <a:ext cx="148132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56816" y="1097280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</a:rP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1536192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0F4FF"/>
                </a:solidFill>
              </a:rPr>
              <a:t>Prepro-
cessing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5576" y="1609344"/>
            <a:ext cx="137160" cy="27432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147675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5275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39312" y="1005840"/>
            <a:ext cx="1481328" cy="123444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9312" y="1005840"/>
            <a:ext cx="1481328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1097280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366F1"/>
                </a:solidFill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1536192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0F4FF"/>
                </a:solidFill>
              </a:rPr>
              <a:t>Analiza
sentymentu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8072" y="1609344"/>
            <a:ext cx="137160" cy="27432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3792" y="147675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5275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21808" y="1005840"/>
            <a:ext cx="1481328" cy="123444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1808" y="1005840"/>
            <a:ext cx="1481328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21808" y="1097280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78BFA"/>
                </a:solidFill>
              </a:rPr>
              <a:t>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1536192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0F4FF"/>
                </a:solidFill>
              </a:rPr>
              <a:t>Analiza
emocji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30568" y="1609344"/>
            <a:ext cx="137160" cy="27432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147675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5275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04304" y="1005840"/>
            <a:ext cx="1481328" cy="123444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04304" y="1005840"/>
            <a:ext cx="1481328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04304" y="1097280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2C55E"/>
                </a:solidFill>
              </a:rPr>
              <a:t>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1536192"/>
            <a:ext cx="1481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0F4FF"/>
                </a:solidFill>
              </a:rPr>
              <a:t>FastAPI
Backend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606040"/>
            <a:ext cx="8595360" cy="1737360"/>
          </a:xfrm>
          <a:prstGeom prst="rect">
            <a:avLst/>
          </a:prstGeom>
          <a:solidFill>
            <a:srgbClr val="1A2E4A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69748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</a:rPr>
              <a:t>React 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3063240"/>
            <a:ext cx="1572768" cy="100584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063240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B8"/>
                </a:solidFill>
              </a:rPr>
              <a:t>Donut chart
sentymentu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29967" y="3063240"/>
            <a:ext cx="1572768" cy="100584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29967" y="3063240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B8"/>
                </a:solidFill>
              </a:rPr>
              <a:t>Szereg
czasowy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12463" y="3063240"/>
            <a:ext cx="1572768" cy="100584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12463" y="3063240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B8"/>
                </a:solidFill>
              </a:rPr>
              <a:t>Chmura
słów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94959" y="3063240"/>
            <a:ext cx="1572768" cy="100584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59" y="3063240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B8"/>
                </a:solidFill>
              </a:rPr>
              <a:t>Wykres
języków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77455" y="3063240"/>
            <a:ext cx="1572768" cy="100584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77455" y="3063240"/>
            <a:ext cx="15727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B8"/>
                </a:solidFill>
              </a:rPr>
              <a:t>Top komentarze
+/−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Dataset — tweet_eval / sentiment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4663440" cy="370332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42415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</a:rPr>
              <a:t>SemEval-2017 Task 4 — Twitter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7160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90B8"/>
                </a:solidFill>
              </a:rPr>
              <a:t>Rosenthal et al. (2017). SemEval-2017 Task 4: Sentiment Analysis in Twitter.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F"/>
                </a:solidFill>
              </a:rPr>
              <a:t>Źródło: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8288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Tweety z anglojęzycznego Twittera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8541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F"/>
                </a:solidFill>
              </a:rPr>
              <a:t>Klasy: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18541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Negatywny (0) · Neutralny (1) · Pozytywny 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420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F"/>
                </a:solidFill>
              </a:rPr>
              <a:t>Licencja: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4203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Creative Commons Attribution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8986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F"/>
                </a:solidFill>
              </a:rPr>
              <a:t>Dostęp: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9864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HuggingFace: cardiffnlp/tweet_eval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3101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F"/>
                </a:solidFill>
              </a:rPr>
              <a:t>Preprocessing pipeline: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767328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HTML decode + usuwanie tagów HTML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041648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Emoji → tekst (biblioteka emoji)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315968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51959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Wykrywanie języka (langdetect)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590288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26279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Filtrowanie spamu (regex heuristics)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66360" y="932688"/>
            <a:ext cx="1920240" cy="117043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66360" y="932688"/>
            <a:ext cx="45720" cy="1170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1005840"/>
            <a:ext cx="1737360" cy="6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45 615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1611538"/>
            <a:ext cx="1737360" cy="444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próbek treningowych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932688"/>
            <a:ext cx="1691640" cy="117043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23760" y="932688"/>
            <a:ext cx="45720" cy="1170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1005840"/>
            <a:ext cx="1508760" cy="643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12 284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1611538"/>
            <a:ext cx="1508760" cy="444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próbek testowych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2240280"/>
            <a:ext cx="3749039" cy="2395728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2331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F"/>
                </a:solidFill>
              </a:rPr>
              <a:t>Rozkład klas (zbiór treningowy)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5166360" y="2606040"/>
          <a:ext cx="3749039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Model 1 — VADER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0" y="320040"/>
            <a:ext cx="1737360" cy="2286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0" y="3200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F4FF"/>
                </a:solidFill>
              </a:rPr>
              <a:t>Lexicon-Based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90B8"/>
                </a:solidFill>
              </a:rPr>
              <a:t>Valence Aware Dictionary and sEntiment Reasoner  (Hutto &amp; Gilbert, 2014)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4617720" cy="356616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18CF8"/>
                </a:solidFill>
              </a:rPr>
              <a:t>Jak działa?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65376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F"/>
                </a:solidFill>
              </a:rPr>
              <a:t>Słownik 7 500 wpisów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każde słowo ma score walencji od −4 do +4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87168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048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F"/>
                </a:solidFill>
              </a:rPr>
              <a:t>Reguły kontekstowe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6090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rozpoznaje CAPS LOCK, wykrzykniki!, emotikony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108960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266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F"/>
                </a:solidFill>
              </a:rPr>
              <a:t>Compound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8269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wartość sumaryczna z zakresu [−1.0, +1.0]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730752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4845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0F4FF"/>
                </a:solidFill>
              </a:rPr>
              <a:t>Próg klasyfikacji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0448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≥ 0.05 → Pozytywny | ≤ −0.05 → Negatywny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069080"/>
            <a:ext cx="4297680" cy="13716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59E0B"/>
                </a:solidFill>
              </a:rPr>
              <a:t>⚠  "not bad" → VADER: Negatywny (widzi "bad")   → XLM-RoBERTa: Pozytywny (rozumie negację)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1188720"/>
            <a:ext cx="1828800" cy="11155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1188720"/>
            <a:ext cx="45720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7800" y="1261872"/>
            <a:ext cx="1645920" cy="61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57.0%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1835749"/>
            <a:ext cx="1645920" cy="42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Accuracy (tweet_eval)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1188720"/>
            <a:ext cx="1737360" cy="11155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86600" y="1188720"/>
            <a:ext cx="45720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1261872"/>
            <a:ext cx="1554480" cy="61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56.7%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1835749"/>
            <a:ext cx="1554480" cy="42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F1 macro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2468880"/>
            <a:ext cx="3703320" cy="228600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2560320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</a:rPr>
              <a:t>Plusy / Minusy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2999232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58968" y="29443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Brak trenowania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7800" y="3255264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58968" y="320040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Działa bez GPU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7800" y="3511296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58968" y="34564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Miliony komend/min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57800" y="3767328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58968" y="371246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C55E"/>
                </a:solidFill>
              </a:rPr>
              <a:t>Social media aware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67728" y="2999232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68896" y="2944368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</a:rPr>
              <a:t>Tylko angielski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67728" y="3255264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68896" y="3200400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</a:rPr>
              <a:t>Brak kontekstu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67728" y="3511296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68896" y="345643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</a:rPr>
              <a:t>Problem z negacją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67728" y="3767328"/>
            <a:ext cx="914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68896" y="3712464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</a:rPr>
              <a:t>Niski F1 na 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663440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90B8"/>
                </a:solidFill>
              </a:rPr>
              <a:t>Rola: szybki model produkcyjny w live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0F4FF"/>
                </a:solidFill>
              </a:rPr>
              <a:t>Modele 2 &amp; 3 — TF-IDF + Naive Bayes / Logistic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0" y="320040"/>
            <a:ext cx="1645920" cy="2286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0" y="320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F4FF"/>
                </a:solidFill>
              </a:rPr>
              <a:t>Supervised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8412480" cy="86868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8CF8"/>
                </a:solidFill>
              </a:rPr>
              <a:t>TF-IDF Vectorizer: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960120"/>
            <a:ext cx="1280160" cy="658368"/>
          </a:xfrm>
          <a:prstGeom prst="rect">
            <a:avLst/>
          </a:prstGeom>
          <a:solidFill>
            <a:srgbClr val="1A2E4A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9875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18CF8"/>
                </a:solidFill>
              </a:rPr>
              <a:t>50 000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3441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A90B8"/>
                </a:solidFill>
              </a:rPr>
              <a:t>max_features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960120"/>
            <a:ext cx="1280160" cy="658368"/>
          </a:xfrm>
          <a:prstGeom prst="rect">
            <a:avLst/>
          </a:prstGeom>
          <a:solidFill>
            <a:srgbClr val="1A2E4A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9875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18CF8"/>
                </a:solidFill>
              </a:rPr>
              <a:t>(1, 2)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3441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A90B8"/>
                </a:solidFill>
              </a:rPr>
              <a:t>ngram_range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960120"/>
            <a:ext cx="1280160" cy="658368"/>
          </a:xfrm>
          <a:prstGeom prst="rect">
            <a:avLst/>
          </a:prstGeom>
          <a:solidFill>
            <a:srgbClr val="1A2E4A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9875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18CF8"/>
                </a:solidFill>
              </a:rPr>
              <a:t>log(tf+1)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3441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A90B8"/>
                </a:solidFill>
              </a:rPr>
              <a:t>sublinear_tf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960120"/>
            <a:ext cx="1280160" cy="658368"/>
          </a:xfrm>
          <a:prstGeom prst="rect">
            <a:avLst/>
          </a:prstGeom>
          <a:solidFill>
            <a:srgbClr val="1A2E4A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9875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18CF8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3441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7A90B8"/>
                </a:solidFill>
              </a:rPr>
              <a:t>min_df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920240"/>
            <a:ext cx="3886200" cy="315468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1920240"/>
            <a:ext cx="3886200" cy="6400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0574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</a:rPr>
              <a:t>Naive Bayes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3957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90B8"/>
                </a:solidFill>
              </a:rPr>
              <a:t>MultinomialNB(alpha=0.1)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788920"/>
            <a:ext cx="169164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788920"/>
            <a:ext cx="45720" cy="9144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862072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59.4%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31927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2788920"/>
            <a:ext cx="169164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77440" y="2788920"/>
            <a:ext cx="45720" cy="9144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2862072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56.7%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331927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F1 macro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B8"/>
                </a:solidFill>
              </a:rPr>
              <a:t>Klasyfikator probabilistyczny zakładający niezależność cech. Bardzo szybki trening, działa dobrze przy małych danych. Wrażliwy na korelacje między słowami — bigramy pomagają, ale mniej niż w LR.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1920240"/>
            <a:ext cx="3886200" cy="315468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63440" y="1920240"/>
            <a:ext cx="3886200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205740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4FF"/>
                </a:solidFill>
              </a:rPr>
              <a:t>Logistic Regression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239572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90B8"/>
                </a:solidFill>
              </a:rPr>
              <a:t>LR(C=5.0, lbfgs, max_iter=1000)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2788920"/>
            <a:ext cx="169164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800600" y="2788920"/>
            <a:ext cx="4572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2862072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59.8%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331927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Accuracy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2788920"/>
            <a:ext cx="1691640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75120" y="2788920"/>
            <a:ext cx="4572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2862072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57.7%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3319272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F1 macro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060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B8"/>
                </a:solidFill>
              </a:rPr>
              <a:t>Model liniowy z regularyzacją L2. Uwzględnia wagi cech — lepsza obsługa bigramów i kontekstu fraz. Wolniejszy trening niż NB, wyższa jakość klasyfikacji.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24528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D5275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Model 4 — XLM-RoBERTa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0" y="320040"/>
            <a:ext cx="1554480" cy="228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0" y="3200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F4FF"/>
                </a:solidFill>
              </a:rPr>
              <a:t>Transformer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90B8"/>
                </a:solidFill>
              </a:rPr>
              <a:t>cardiffnlp/twitter-xlm-roberta-base-sentiment  (Barbieri et al., 2022 · arXiv:2104.12250)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4617720" cy="370332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Architektura i trening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F"/>
                </a:solidFill>
              </a:rPr>
              <a:t>Pre-trening: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8308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100 języków (CommonCrawl) — true multilingual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3055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F"/>
                </a:solidFill>
              </a:rPr>
              <a:t>Fine-tuning: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13055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~198 mln tweetów (Cardiff NLP Twitter Corpus)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47802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F"/>
                </a:solidFill>
              </a:rPr>
              <a:t>Rozmiar modelu: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478024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~1.1 GB, 125 mln parametrów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82549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F"/>
                </a:solidFill>
              </a:rPr>
              <a:t>Mechanizm: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825496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Self-attention — rozumie kolejność i kontekst słów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17296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F"/>
                </a:solidFill>
              </a:rPr>
              <a:t>Klasy wyjściowe: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72968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negative / neutral / positive → mapowane na PL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520439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F"/>
                </a:solidFill>
              </a:rPr>
              <a:t>Tokenizer: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520439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SentencePiece — obsługa polskich znaków diakrytycznych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4389120" cy="621792"/>
          </a:xfrm>
          <a:prstGeom prst="rect">
            <a:avLst/>
          </a:prstGeom>
          <a:solidFill>
            <a:srgbClr val="1A2E4A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18795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59E0B"/>
                </a:solidFill>
              </a:rPr>
              <a:t>"not bad"  →  VADER: Negatywny (widzi "bad")   |   XLM-RoBERTa: Pozytywny (rozumie negację)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1188720"/>
            <a:ext cx="1874519" cy="11155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1188720"/>
            <a:ext cx="45720" cy="11155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7800" y="1261872"/>
            <a:ext cx="1691639" cy="61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69.4%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1835749"/>
            <a:ext cx="1691639" cy="42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Accuracy — najwyższy wynik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1188720"/>
            <a:ext cx="1691640" cy="11155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0" y="1188720"/>
            <a:ext cx="45720" cy="11155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1261872"/>
            <a:ext cx="1508760" cy="613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69.9%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1835749"/>
            <a:ext cx="1508760" cy="42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F1 macro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2468880"/>
            <a:ext cx="3703320" cy="2404872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2560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4FF"/>
                </a:solidFill>
              </a:rPr>
              <a:t>Wielojęzyczność — klucz do YouTube PL+EN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3081527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0680" y="30175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🇵🇱 polski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57800" y="3419856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33558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🇬🇧 angielski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7800" y="3758184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0680" y="369417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🇩🇪 niemiecki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0840" y="3081527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30175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🇪🇸 hiszpański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3419856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335584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🇫🇷 francuski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0840" y="3758184"/>
            <a:ext cx="91440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369417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A90B8"/>
                </a:solidFill>
              </a:rPr>
              <a:t>+ 95 innych języków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773168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90B8"/>
                </a:solidFill>
              </a:rPr>
              <a:t>Rola: opcjonalny model high-quality (wolniejszy, ~1 min na 500 komentarzy).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Porównanie modeli — wyniki eksperymentu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A90B8"/>
                </a:solidFill>
              </a:rPr>
              <a:t>Dataset ewaluacyjny: tweet_eval/sentiment test split (12 284 próbek) — identyczny zbiór dla wszystkich modeli.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1115568"/>
          <a:ext cx="52120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0" y="1115568"/>
            <a:ext cx="3154680" cy="352044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20700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</a:rPr>
              <a:t>Tabela wyników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572768"/>
            <a:ext cx="2926080" cy="2926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157276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0F4FF"/>
                </a:solidFill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572768"/>
            <a:ext cx="886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F4FF"/>
                </a:solidFill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57276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0F4FF"/>
                </a:solidFill>
              </a:rPr>
              <a:t>F1 macro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920240"/>
            <a:ext cx="292608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965960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B8"/>
                </a:solidFill>
              </a:rPr>
              <a:t>VADER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965960"/>
            <a:ext cx="886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B8"/>
                </a:solidFill>
              </a:rPr>
              <a:t>57.0%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659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B8"/>
                </a:solidFill>
              </a:rPr>
              <a:t>56.7%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2468880"/>
            <a:ext cx="2926080" cy="502920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514600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B8"/>
                </a:solidFill>
              </a:rPr>
              <a:t>TF-IDF + NB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514600"/>
            <a:ext cx="886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B8"/>
                </a:solidFill>
              </a:rPr>
              <a:t>59.4%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5146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B8"/>
                </a:solidFill>
              </a:rPr>
              <a:t>56.7%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3017520"/>
            <a:ext cx="292608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3063239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B8"/>
                </a:solidFill>
              </a:rPr>
              <a:t>TF-IDF + LR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3063239"/>
            <a:ext cx="886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B8"/>
                </a:solidFill>
              </a:rPr>
              <a:t>59.8%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063239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0B8"/>
                </a:solidFill>
              </a:rPr>
              <a:t>57.7%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3566160"/>
            <a:ext cx="2926080" cy="502920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3611879"/>
            <a:ext cx="14813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XLM-RoBERTa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3611879"/>
            <a:ext cx="886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</a:rPr>
              <a:t>69.4% 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611879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</a:rPr>
              <a:t>69.9% 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36592"/>
            <a:ext cx="8458200" cy="566928"/>
          </a:xfrm>
          <a:prstGeom prst="rect">
            <a:avLst/>
          </a:prstGeom>
          <a:solidFill>
            <a:srgbClr val="0A2010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736592"/>
            <a:ext cx="54864" cy="5669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791456"/>
            <a:ext cx="8183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C55E"/>
                </a:solidFill>
              </a:rPr>
              <a:t>Wniosek: XLM-RoBERTa osiąga o +10 pp wyższy accuracy niż LR — kontekstowe rozumienie tekstu i wielojęzyczność mają mierzalny wpływ na jakość klasyfikacji sentymentu.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SentimentScope — aplikacja i funkcje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932688"/>
            <a:ext cx="2011680" cy="406908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18CF8"/>
                </a:solidFill>
              </a:rPr>
              <a:t>Stack
technologiczny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828800" cy="658368"/>
          </a:xfrm>
          <a:prstGeom prst="rect">
            <a:avLst/>
          </a:prstGeom>
          <a:solidFill>
            <a:srgbClr val="1A2E4A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64008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62763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F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74519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0B8"/>
                </a:solidFill>
              </a:rPr>
              <a:t>React 18 + Vite
Recharts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1828800" cy="658368"/>
          </a:xfrm>
          <a:prstGeom prst="rect">
            <a:avLst/>
          </a:prstGeom>
          <a:solidFill>
            <a:srgbClr val="1A2E4A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64008" cy="6583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3230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F"/>
                </a:solidFill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679192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0B8"/>
                </a:solidFill>
              </a:rPr>
              <a:t>FastAPI
Python 3.10+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82112"/>
            <a:ext cx="1828800" cy="658368"/>
          </a:xfrm>
          <a:prstGeom prst="rect">
            <a:avLst/>
          </a:prstGeom>
          <a:solidFill>
            <a:srgbClr val="1A2E4A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82112"/>
            <a:ext cx="64008" cy="6583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23697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F"/>
                </a:solidFill>
              </a:rPr>
              <a:t>NLP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483864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0B8"/>
                </a:solidFill>
              </a:rPr>
              <a:t>VADER / XLM-RoBERTa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86784"/>
            <a:ext cx="1828800" cy="658368"/>
          </a:xfrm>
          <a:prstGeom prst="rect">
            <a:avLst/>
          </a:prstGeom>
          <a:solidFill>
            <a:srgbClr val="1A2E4A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86784"/>
            <a:ext cx="64008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04164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F4FF"/>
                </a:solidFill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4288536"/>
            <a:ext cx="1600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A90B8"/>
                </a:solidFill>
              </a:rPr>
              <a:t>YouTube Data API v3
+ in-memory cache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8608" y="932688"/>
            <a:ext cx="3090672" cy="86868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15768" y="102412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366F1"/>
                </a:solidFill>
              </a:rPr>
              <a:t>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1024128"/>
            <a:ext cx="2359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</a:rPr>
              <a:t>Donut chart sentymentu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2968" y="1335024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Rozkład Pozytywny/Neutralny/Negatywny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88736" y="932688"/>
            <a:ext cx="3090672" cy="86868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25896" y="102412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EA5E9"/>
                </a:solidFill>
              </a:rPr>
              <a:t>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1024128"/>
            <a:ext cx="2359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</a:rPr>
              <a:t>Szereg czasowy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1335024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Ewolucja sentymentu miesiąc po miesiącu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8608" y="1984248"/>
            <a:ext cx="3090672" cy="86868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15768" y="207568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59E0B"/>
                </a:solidFill>
              </a:rPr>
              <a:t>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72968" y="2075688"/>
            <a:ext cx="2359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</a:rPr>
              <a:t>Chmura słów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72968" y="2386584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Top 60 słów, interaktywny hover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88736" y="1984248"/>
            <a:ext cx="3090672" cy="86868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25896" y="207568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2C55E"/>
                </a:solidFill>
              </a:rPr>
              <a:t>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3096" y="2075688"/>
            <a:ext cx="2359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</a:rPr>
              <a:t>Wykres językowy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83096" y="2386584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Języki wykryte przez langdetect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78608" y="3035808"/>
            <a:ext cx="3090672" cy="86868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15768" y="312724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F4444"/>
                </a:solidFill>
              </a:rPr>
              <a:t>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72968" y="3127248"/>
            <a:ext cx="2359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</a:rPr>
              <a:t>Top komentarze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72968" y="3438144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Najbardziej pos. i neg. z compound score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88736" y="3035808"/>
            <a:ext cx="3090672" cy="868680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25896" y="3127248"/>
            <a:ext cx="411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78BFA"/>
                </a:solidFill>
              </a:rPr>
              <a:t>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83096" y="3127248"/>
            <a:ext cx="2359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F4FF"/>
                </a:solidFill>
              </a:rPr>
              <a:t>Wybór modelu + cache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83096" y="3438144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0B8"/>
                </a:solidFill>
              </a:rPr>
              <a:t>VADER lub XLM-RoBERTa, in-memory cache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6366F1">
              <a:alpha val="10000"/>
            </a:srgbClr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4FF"/>
                </a:solidFill>
              </a:rPr>
              <a:t>Wnioski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87552"/>
            <a:ext cx="8458200" cy="804672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64008" cy="8046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457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C55E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078992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</a:rPr>
              <a:t>XLM-RoBERTa wygrywa o +10 pp accuracy nad LR — mechanizm self-attention i wielojęzyczność przekładają się na mierzalną poprawę klasyfikacji sentymentu.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47672"/>
            <a:ext cx="8458200" cy="804672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47672"/>
            <a:ext cx="64008" cy="8046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47672"/>
            <a:ext cx="457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366F1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39112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</a:rPr>
              <a:t>VADER pozostaje optymalny w live pipeline — brak wymagań GPU i natychmiastowe wyniki czynią go idealnym jako domyślny model produkcyjny aplikacji.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07792"/>
            <a:ext cx="8458200" cy="804672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07792"/>
            <a:ext cx="64008" cy="8046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7792"/>
            <a:ext cx="457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EA5E9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99232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</a:rPr>
              <a:t>TF-IDF + LR &gt; NB — bigramy i ważenie TF-IDF pomagają, ale modele liniowe mają naturalny sufit wynikający z reprezentacji bag-of-words.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67912"/>
            <a:ext cx="8458200" cy="804672"/>
          </a:xfrm>
          <a:prstGeom prst="rect">
            <a:avLst/>
          </a:prstGeom>
          <a:solidFill>
            <a:srgbClr val="122035"/>
          </a:solidFill>
          <a:ln w="3810">
            <a:solidFill>
              <a:srgbClr val="3D52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67912"/>
            <a:ext cx="64008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867912"/>
            <a:ext cx="457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59352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</a:rPr>
              <a:t>Analiza transkrypcji vs komentarze — porównanie tonu wideo z reakcją widzów ujawnia, czy przekaz twórcy jest zgodny z odbiorem społeczności.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</a:rPr>
              <a:t>Literatura i źródła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49808"/>
            <a:ext cx="8229600" cy="13716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699516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6995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F4FF"/>
                </a:solidFill>
              </a:rPr>
              <a:t>VADER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308" y="987552"/>
            <a:ext cx="7484363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B8"/>
                </a:solidFill>
              </a:rPr>
              <a:t>Hutto, C.J. &amp; Gilbert, E. (2014). VADER: A Parsimonious Rule-based Model for Sentiment Analysis of Social Media Text. ICWSM.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36776"/>
            <a:ext cx="1154887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36776"/>
            <a:ext cx="11548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F4FF"/>
                </a:solidFill>
              </a:rPr>
              <a:t>XLM-RoBERTa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6679" y="1600200"/>
            <a:ext cx="7028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B8"/>
                </a:solidFill>
              </a:rPr>
              <a:t>Barbieri, F. et al. (2022). XLM-T: Multilingual Language Models in Twitter for Sentiment Analysis and Beyond. arXiv:2104.12250.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9424"/>
            <a:ext cx="1078992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9424"/>
            <a:ext cx="1078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F4FF"/>
                </a:solidFill>
              </a:rPr>
              <a:t>tweet_eval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2212848"/>
            <a:ext cx="71048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B8"/>
                </a:solidFill>
              </a:rPr>
              <a:t>Rosenthal, S. et al. (2017). SemEval-2017 Task 4: Sentiment Analysis in Twitter. ACL Anthology.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62072"/>
            <a:ext cx="851306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62072"/>
            <a:ext cx="85130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F4FF"/>
                </a:solidFill>
              </a:rPr>
              <a:t>RoBERTa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3098" y="2825496"/>
            <a:ext cx="7332573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B8"/>
                </a:solidFill>
              </a:rPr>
              <a:t>Liu, Y. et al. (2019). RoBERTa: A Robustly Optimized BERT Pretraining Approach. arXiv:1907.11692.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1154887" cy="228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74720"/>
            <a:ext cx="11548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0F4FF"/>
                </a:solidFill>
              </a:rPr>
              <a:t>TF-IDF + NB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6679" y="3438144"/>
            <a:ext cx="7028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0B8"/>
                </a:solidFill>
              </a:rPr>
              <a:t>Manning, C.D. et al. (2008). Introduction to Information Retrieval. Cambridge University Press.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8229600" cy="13716"/>
          </a:xfrm>
          <a:prstGeom prst="rect">
            <a:avLst/>
          </a:prstGeom>
          <a:solidFill>
            <a:srgbClr val="3D5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D5275"/>
                </a:solidFill>
              </a:rPr>
              <a:t>SentimentScope  ·  Nadia Dolińska  ·  Informatyka Praktyczna, UG  · 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